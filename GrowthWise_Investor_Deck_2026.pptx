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5" r:id="rId4"/>
    <p:sldId id="258" r:id="rId5"/>
    <p:sldId id="274" r:id="rId6"/>
    <p:sldId id="276" r:id="rId7"/>
    <p:sldId id="259" r:id="rId8"/>
    <p:sldId id="277" r:id="rId9"/>
    <p:sldId id="260" r:id="rId10"/>
    <p:sldId id="27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485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78C62-803B-443B-FC8D-8D6BB844D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03E8F7-7E6E-4D47-98BF-3B4B544E5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8CAFC2-6CA1-0310-D1CD-CBB45371B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FBA86-41F4-76DB-8A1D-89704AE96E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293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C7814-2E2C-B829-8D3E-40277DAA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F98B70-70C8-9E5E-5B43-38CE7F9F8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D1660-9C85-9BB7-D4A6-B5509E186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B675C-F4B2-1FAB-28B1-F6BB1D3575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455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F853-E727-0856-CC91-53657587F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F1282A-281D-CBFC-9974-E1BC0A2FE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D482D8-28B0-B194-CD13-0DE9011FF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5D891-E79B-7DAF-CAEB-262229BA48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290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DB15-35DE-4EA5-781E-9DC4FFED0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604FB-5219-0477-42D3-F703D3759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281A7-5229-F1A3-0DD4-761D60B52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C388E-0F5F-7B31-7FE2-FD14035AF3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4567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00D4AA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7C4FD4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GrowthWise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Growth Champion &amp; Growth Channel Companion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growth management platform: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Audit; Assess; Assist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05840" y="4114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growthwisebusiness.com</a:t>
            </a:r>
            <a:endParaRPr lang="en-US" sz="1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4114800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9040" y="4114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ozlem@growthwise.tech</a:t>
            </a:r>
            <a:endParaRPr lang="en-US" sz="10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114800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92240" y="4114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 &amp; Istanbul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SMEs &amp; start-ups don’t have the expertise, budgets or time to manage either organic or paid growth channels to create a </a:t>
            </a:r>
            <a:r>
              <a:rPr lang="en-US" sz="1400" b="1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manageable growth engine</a:t>
            </a:r>
            <a:endParaRPr lang="en-US" sz="1400" b="1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7680960" cy="68580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4864" cy="68580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69164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1764792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unsolved, GEO another level of mystery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203911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to use Google Analytics and  optimize accordingly is beyond their internal understanding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496312"/>
            <a:ext cx="7680960" cy="68580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2496312"/>
            <a:ext cx="54864" cy="68580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496312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71600" y="25694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support is a black box, with uncertainty over deliverables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28437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agencies/consultants offer mixed levels of competence, no visibility on what they’re doing &amp; its level of effectiveness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300984"/>
            <a:ext cx="7680960" cy="68580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3300984"/>
            <a:ext cx="54864" cy="68580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3300984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3374136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consultants are expensive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71600" y="3648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Expert-level growth diagnostics is hard to find and  fractional CMO or growth consultant with broad knowledge costs $5K-15K/mo..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05656"/>
            <a:ext cx="7680960" cy="68580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1520" y="4105656"/>
            <a:ext cx="54864" cy="68580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60120" y="4105656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71600" y="41788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channels, more obstacles, more unknowns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71600" y="445312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Experimenting with possible growth channels is tempting but ‘how to start’; ‘how to assess’ and ‘can I afford to sustain?’  obstacles prevent most from developing anything approaching a system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B5E31-A724-9BA2-8AA8-59836642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961042-D86F-D6C4-9C89-CAFF26674D1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8DBF11B-C01A-6707-9DAB-FA99C5336948}"/>
              </a:ext>
            </a:extLst>
          </p:cNvPr>
          <p:cNvSpPr/>
          <p:nvPr/>
        </p:nvSpPr>
        <p:spPr>
          <a:xfrm>
            <a:off x="641630" y="320040"/>
            <a:ext cx="74050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ambition</a:t>
            </a:r>
            <a:endParaRPr lang="en-US" sz="3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D04003-6DBB-CCD7-7157-0F3835337097}"/>
              </a:ext>
            </a:extLst>
          </p:cNvPr>
          <p:cNvSpPr txBox="1"/>
          <p:nvPr/>
        </p:nvSpPr>
        <p:spPr>
          <a:xfrm>
            <a:off x="641630" y="1735810"/>
            <a:ext cx="7875837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Make a digital ‘Growth strategy” and growth engine systems accessible to every scale of business </a:t>
            </a:r>
          </a:p>
          <a:p>
            <a:endParaRPr lang="en-US" sz="1400" b="1" dirty="0">
              <a:solidFill>
                <a:schemeClr val="bg1"/>
              </a:solidFill>
            </a:endParaRPr>
          </a:p>
          <a:p>
            <a:pPr marL="285750" indent="-285750">
              <a:buClr>
                <a:srgbClr val="C00000"/>
              </a:buClr>
              <a:buFont typeface="Wingdings" pitchFamily="2" charset="2"/>
              <a:buChar char="Ø"/>
            </a:pPr>
            <a:r>
              <a:rPr lang="en-US" sz="1300" dirty="0">
                <a:solidFill>
                  <a:schemeClr val="bg1"/>
                </a:solidFill>
              </a:rPr>
              <a:t>Taking the idea of ‘growth engine’ capabilities from the realm of big tech companies, e-commerce giants and highly technical digital businesses to an approach scalable for every kind of business owner</a:t>
            </a:r>
          </a:p>
          <a:p>
            <a:pPr marL="285750" indent="-285750">
              <a:buClr>
                <a:srgbClr val="C00000"/>
              </a:buClr>
              <a:buFont typeface="Wingdings" pitchFamily="2" charset="2"/>
              <a:buChar char="Ø"/>
            </a:pPr>
            <a:endParaRPr lang="en-US" sz="13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C00000"/>
              </a:buClr>
              <a:buFont typeface="Wingdings" pitchFamily="2" charset="2"/>
              <a:buChar char="Ø"/>
            </a:pPr>
            <a:r>
              <a:rPr lang="en-US" sz="1300" dirty="0">
                <a:solidFill>
                  <a:schemeClr val="bg1"/>
                </a:solidFill>
              </a:rPr>
              <a:t>When owners/managers understand </a:t>
            </a:r>
          </a:p>
          <a:p>
            <a:pPr lvl="1">
              <a:buClr>
                <a:srgbClr val="C00000"/>
              </a:buClr>
            </a:pPr>
            <a:r>
              <a:rPr lang="en-US" sz="1300" dirty="0">
                <a:solidFill>
                  <a:schemeClr val="bg1"/>
                </a:solidFill>
              </a:rPr>
              <a:t>(1) what’s possible</a:t>
            </a:r>
          </a:p>
          <a:p>
            <a:pPr lvl="1">
              <a:buClr>
                <a:srgbClr val="C00000"/>
              </a:buClr>
            </a:pPr>
            <a:r>
              <a:rPr lang="en-US" sz="1300" dirty="0">
                <a:solidFill>
                  <a:schemeClr val="bg1"/>
                </a:solidFill>
              </a:rPr>
              <a:t>(2) what you need to do </a:t>
            </a:r>
          </a:p>
          <a:p>
            <a:pPr lvl="1">
              <a:buClr>
                <a:srgbClr val="C00000"/>
              </a:buClr>
            </a:pPr>
            <a:r>
              <a:rPr lang="en-US" sz="1300" dirty="0">
                <a:solidFill>
                  <a:schemeClr val="bg1"/>
                </a:solidFill>
              </a:rPr>
              <a:t>(3) how to do it </a:t>
            </a:r>
          </a:p>
          <a:p>
            <a:pPr lvl="1">
              <a:buClr>
                <a:srgbClr val="C00000"/>
              </a:buClr>
            </a:pPr>
            <a:r>
              <a:rPr lang="en-US" sz="1300" dirty="0">
                <a:solidFill>
                  <a:schemeClr val="bg1"/>
                </a:solidFill>
              </a:rPr>
              <a:t>(4) what’s working</a:t>
            </a:r>
          </a:p>
          <a:p>
            <a:pPr>
              <a:buClr>
                <a:srgbClr val="C00000"/>
              </a:buClr>
            </a:pPr>
            <a:endParaRPr lang="en-US" sz="1300" dirty="0">
              <a:solidFill>
                <a:schemeClr val="bg1"/>
              </a:solidFill>
            </a:endParaRPr>
          </a:p>
          <a:p>
            <a:pPr>
              <a:buClr>
                <a:srgbClr val="C00000"/>
              </a:buClr>
            </a:pPr>
            <a:r>
              <a:rPr lang="en-US" sz="1300" dirty="0">
                <a:solidFill>
                  <a:schemeClr val="bg1"/>
                </a:solidFill>
              </a:rPr>
              <a:t>every business can finally access its own growth strategy and build their sustainable engine for growth    </a:t>
            </a:r>
          </a:p>
        </p:txBody>
      </p:sp>
    </p:spTree>
    <p:extLst>
      <p:ext uri="{BB962C8B-B14F-4D97-AF65-F5344CB8AC3E}">
        <p14:creationId xmlns:p14="http://schemas.microsoft.com/office/powerpoint/2010/main" val="1241990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engine, no growth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support tools and on-line blog guidance are not easy enough for owners/managers to manage in-house. They don’t have enough confidence or budget to invest with confidence externally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C5164D-C628-6117-F5F6-F60A0B872C27}"/>
              </a:ext>
            </a:extLst>
          </p:cNvPr>
          <p:cNvSpPr txBox="1"/>
          <p:nvPr/>
        </p:nvSpPr>
        <p:spPr>
          <a:xfrm>
            <a:off x="641630" y="1735810"/>
            <a:ext cx="7875837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solidFill>
                  <a:schemeClr val="bg1"/>
                </a:solidFill>
              </a:rPr>
              <a:t>Doing nothing, doing little or doing it badly!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25% of SMEs have no form of digital marketing at all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b="1" dirty="0">
                <a:solidFill>
                  <a:schemeClr val="bg1"/>
                </a:solidFill>
              </a:rPr>
              <a:t>SEO / some digital channel 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1"/>
                </a:solidFill>
              </a:rPr>
              <a:t>50–70% of SMEs </a:t>
            </a:r>
            <a:r>
              <a:rPr lang="en-US" sz="1300" dirty="0">
                <a:solidFill>
                  <a:schemeClr val="bg1"/>
                </a:solidFill>
              </a:rPr>
              <a:t>have no meaningful SEO strategy or regular effective optimization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91% of SMEs say SEO is important, but only 28% understand it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b="1" dirty="0">
                <a:solidFill>
                  <a:schemeClr val="bg1"/>
                </a:solidFill>
              </a:rPr>
              <a:t>Paid social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50–80% of SMEs have no paid social / ads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511D92D-E8F6-F292-A179-6758F06D956E}"/>
              </a:ext>
            </a:extLst>
          </p:cNvPr>
          <p:cNvSpPr txBox="1"/>
          <p:nvPr/>
        </p:nvSpPr>
        <p:spPr>
          <a:xfrm>
            <a:off x="641629" y="3838145"/>
            <a:ext cx="8112903" cy="738664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Only ~10–25% of SMEs are truly “digitally optimized” (SEO + paid + tracking + funnel discipline).</a:t>
            </a:r>
          </a:p>
          <a:p>
            <a:r>
              <a:rPr lang="en-US" sz="1400" dirty="0">
                <a:solidFill>
                  <a:schemeClr val="bg1"/>
                </a:solidFill>
              </a:rPr>
              <a:t>The rest is referral-led, off &amp; on social in a fragmented digital presence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70–90% of SMEs are under-optimized in at least one of these areas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86276C-C676-0967-F881-754BD67C8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AC7CBC-BA46-8F54-6521-4753C207A182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957133-A07C-AA7E-7ADB-3CACC928777F}"/>
              </a:ext>
            </a:extLst>
          </p:cNvPr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4B534EC-DE66-695B-642D-FC432C50BFD3}"/>
              </a:ext>
            </a:extLst>
          </p:cNvPr>
          <p:cNvSpPr/>
          <p:nvPr/>
        </p:nvSpPr>
        <p:spPr>
          <a:xfrm>
            <a:off x="731520" y="10058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GrowthWise is an AI-powered growth audit &amp; strategy platform — powered by Claude AI 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diagnoses, prioritises, and fixes growth bottlenecks across your entire digital stack.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61885BC-B442-DA0D-B965-D79283696951}"/>
              </a:ext>
            </a:extLst>
          </p:cNvPr>
          <p:cNvSpPr/>
          <p:nvPr/>
        </p:nvSpPr>
        <p:spPr>
          <a:xfrm>
            <a:off x="731520" y="1783080"/>
            <a:ext cx="2514600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EF39579-1F22-EED3-66DB-47783D720678}"/>
              </a:ext>
            </a:extLst>
          </p:cNvPr>
          <p:cNvSpPr/>
          <p:nvPr/>
        </p:nvSpPr>
        <p:spPr>
          <a:xfrm>
            <a:off x="914400" y="196596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D4CAE1AB-2ACE-004A-B2A5-1E3CC8408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039112"/>
            <a:ext cx="292608" cy="292608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B50B3CED-2878-C1F4-519C-15407061D9E1}"/>
              </a:ext>
            </a:extLst>
          </p:cNvPr>
          <p:cNvSpPr/>
          <p:nvPr/>
        </p:nvSpPr>
        <p:spPr>
          <a:xfrm>
            <a:off x="914400" y="249631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Growth Audits</a:t>
            </a:r>
            <a:endParaRPr lang="en-US" sz="11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553278A-D398-D768-7879-D49C6FA78B54}"/>
              </a:ext>
            </a:extLst>
          </p:cNvPr>
          <p:cNvSpPr/>
          <p:nvPr/>
        </p:nvSpPr>
        <p:spPr>
          <a:xfrm>
            <a:off x="914400" y="2697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daily diagnostics across GA4, Ads, Meta, LinkedIn, GSC — live today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2F00D9D-21B5-8698-2B30-0060DCF25E31}"/>
              </a:ext>
            </a:extLst>
          </p:cNvPr>
          <p:cNvSpPr/>
          <p:nvPr/>
        </p:nvSpPr>
        <p:spPr>
          <a:xfrm>
            <a:off x="3474720" y="1783080"/>
            <a:ext cx="2514600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A7D0F8B0-2F70-DB20-C88B-3D824329DBF4}"/>
              </a:ext>
            </a:extLst>
          </p:cNvPr>
          <p:cNvSpPr/>
          <p:nvPr/>
        </p:nvSpPr>
        <p:spPr>
          <a:xfrm>
            <a:off x="3657600" y="196596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9E9E08E2-C50B-43A8-078F-F8D883D02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2039112"/>
            <a:ext cx="292608" cy="292608"/>
          </a:xfrm>
          <a:prstGeom prst="rect">
            <a:avLst/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75370C9F-8215-37BE-22BC-3C7FCBC338E4}"/>
              </a:ext>
            </a:extLst>
          </p:cNvPr>
          <p:cNvSpPr/>
          <p:nvPr/>
        </p:nvSpPr>
        <p:spPr>
          <a:xfrm>
            <a:off x="3657600" y="249631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Health Score</a:t>
            </a:r>
            <a:endParaRPr lang="en-US" sz="11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F1C2788-9769-DF67-3664-BAFEE94A922C}"/>
              </a:ext>
            </a:extLst>
          </p:cNvPr>
          <p:cNvSpPr/>
          <p:nvPr/>
        </p:nvSpPr>
        <p:spPr>
          <a:xfrm>
            <a:off x="3657600" y="2697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score measuring overall growth health with AI-ranked issue dashboard</a:t>
            </a:r>
            <a:endParaRPr lang="en-US" sz="9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5821EEDB-114E-142D-1BDC-73FE6D6C57FC}"/>
              </a:ext>
            </a:extLst>
          </p:cNvPr>
          <p:cNvSpPr/>
          <p:nvPr/>
        </p:nvSpPr>
        <p:spPr>
          <a:xfrm>
            <a:off x="6217920" y="1783080"/>
            <a:ext cx="2514600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2D073B1A-9AF4-F7EC-D638-8CA0E73ACDC4}"/>
              </a:ext>
            </a:extLst>
          </p:cNvPr>
          <p:cNvSpPr/>
          <p:nvPr/>
        </p:nvSpPr>
        <p:spPr>
          <a:xfrm>
            <a:off x="6400800" y="196596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6254F078-6107-A8EA-388F-FB22D19F8F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2039112"/>
            <a:ext cx="292608" cy="292608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94E95763-F758-B275-423D-044F860001AD}"/>
              </a:ext>
            </a:extLst>
          </p:cNvPr>
          <p:cNvSpPr/>
          <p:nvPr/>
        </p:nvSpPr>
        <p:spPr>
          <a:xfrm>
            <a:off x="6400800" y="249631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Connectors</a:t>
            </a:r>
            <a:endParaRPr lang="en-US" sz="11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6FCFCD65-81D5-3EA8-B553-280CA705498B}"/>
              </a:ext>
            </a:extLst>
          </p:cNvPr>
          <p:cNvSpPr/>
          <p:nvPr/>
        </p:nvSpPr>
        <p:spPr>
          <a:xfrm>
            <a:off x="6400800" y="2697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GA4, Google Ads, Meta Ads, LinkedIn Ads, GSC, GTM — all in one dashboard</a:t>
            </a:r>
            <a:endParaRPr lang="en-US" sz="9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FE564CF6-2E52-3122-E181-03C4628C9529}"/>
              </a:ext>
            </a:extLst>
          </p:cNvPr>
          <p:cNvSpPr/>
          <p:nvPr/>
        </p:nvSpPr>
        <p:spPr>
          <a:xfrm>
            <a:off x="731520" y="3291840"/>
            <a:ext cx="2514600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3D65C2A7-F4AC-9C80-EB6D-AFAF83668D93}"/>
              </a:ext>
            </a:extLst>
          </p:cNvPr>
          <p:cNvSpPr/>
          <p:nvPr/>
        </p:nvSpPr>
        <p:spPr>
          <a:xfrm>
            <a:off x="914400" y="347472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05BC9D40-F59E-7EF3-2238-DCC70A1E06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3547872"/>
            <a:ext cx="292608" cy="292608"/>
          </a:xfrm>
          <a:prstGeom prst="rect">
            <a:avLst/>
          </a:prstGeom>
        </p:spPr>
      </p:pic>
      <p:sp>
        <p:nvSpPr>
          <p:cNvPr id="23" name="Text 17">
            <a:extLst>
              <a:ext uri="{FF2B5EF4-FFF2-40B4-BE49-F238E27FC236}">
                <a16:creationId xmlns:a16="http://schemas.microsoft.com/office/drawing/2014/main" id="{9CB55FDD-9965-C6DD-9982-BD73B6968310}"/>
              </a:ext>
            </a:extLst>
          </p:cNvPr>
          <p:cNvSpPr/>
          <p:nvPr/>
        </p:nvSpPr>
        <p:spPr>
          <a:xfrm>
            <a:off x="914400" y="400507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Planner</a:t>
            </a:r>
            <a:endParaRPr lang="en-US" sz="1100" dirty="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4610CC89-EF59-506D-C010-8CFAE3E568EE}"/>
              </a:ext>
            </a:extLst>
          </p:cNvPr>
          <p:cNvSpPr/>
          <p:nvPr/>
        </p:nvSpPr>
        <p:spPr>
          <a:xfrm>
            <a:off x="914400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weekly sprint plans with prioritised to-dos for your growth team</a:t>
            </a:r>
            <a:endParaRPr lang="en-US" sz="900" dirty="0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DB817D9C-078C-14A3-84AE-118047A07006}"/>
              </a:ext>
            </a:extLst>
          </p:cNvPr>
          <p:cNvSpPr/>
          <p:nvPr/>
        </p:nvSpPr>
        <p:spPr>
          <a:xfrm>
            <a:off x="3474720" y="3291840"/>
            <a:ext cx="2514600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3690A460-FDDF-9E6A-4964-AD4FEEDF6C1B}"/>
              </a:ext>
            </a:extLst>
          </p:cNvPr>
          <p:cNvSpPr/>
          <p:nvPr/>
        </p:nvSpPr>
        <p:spPr>
          <a:xfrm>
            <a:off x="3657600" y="347472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>
            <a:extLst>
              <a:ext uri="{FF2B5EF4-FFF2-40B4-BE49-F238E27FC236}">
                <a16:creationId xmlns:a16="http://schemas.microsoft.com/office/drawing/2014/main" id="{7FE2E868-E150-2DC1-57EC-D8A4D2F924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0752" y="3547872"/>
            <a:ext cx="292608" cy="292608"/>
          </a:xfrm>
          <a:prstGeom prst="rect">
            <a:avLst/>
          </a:prstGeom>
        </p:spPr>
      </p:pic>
      <p:sp>
        <p:nvSpPr>
          <p:cNvPr id="28" name="Text 21">
            <a:extLst>
              <a:ext uri="{FF2B5EF4-FFF2-40B4-BE49-F238E27FC236}">
                <a16:creationId xmlns:a16="http://schemas.microsoft.com/office/drawing/2014/main" id="{6213D208-C946-97B6-C7E9-8F5B11B6161B}"/>
              </a:ext>
            </a:extLst>
          </p:cNvPr>
          <p:cNvSpPr/>
          <p:nvPr/>
        </p:nvSpPr>
        <p:spPr>
          <a:xfrm>
            <a:off x="3657600" y="400507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BA269494-1BC0-EF08-AD28-00DADF57ED9F}"/>
              </a:ext>
            </a:extLst>
          </p:cNvPr>
          <p:cNvSpPr/>
          <p:nvPr/>
        </p:nvSpPr>
        <p:spPr>
          <a:xfrm>
            <a:off x="3657600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 for tracking failures, spend anomalies, and conversion drops</a:t>
            </a:r>
            <a:endParaRPr lang="en-US" sz="9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041FF01A-A2E3-5C56-738F-EF4D856FC378}"/>
              </a:ext>
            </a:extLst>
          </p:cNvPr>
          <p:cNvSpPr/>
          <p:nvPr/>
        </p:nvSpPr>
        <p:spPr>
          <a:xfrm>
            <a:off x="6217920" y="3291840"/>
            <a:ext cx="2514600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B33FBE28-CC8E-63FF-3F32-D12D1C2266CE}"/>
              </a:ext>
            </a:extLst>
          </p:cNvPr>
          <p:cNvSpPr/>
          <p:nvPr/>
        </p:nvSpPr>
        <p:spPr>
          <a:xfrm>
            <a:off x="6400800" y="347472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>
            <a:extLst>
              <a:ext uri="{FF2B5EF4-FFF2-40B4-BE49-F238E27FC236}">
                <a16:creationId xmlns:a16="http://schemas.microsoft.com/office/drawing/2014/main" id="{DC8D0B51-DCB4-F79B-1A18-B5302E43DA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3547872"/>
            <a:ext cx="292608" cy="292608"/>
          </a:xfrm>
          <a:prstGeom prst="rect">
            <a:avLst/>
          </a:prstGeom>
        </p:spPr>
      </p:pic>
      <p:sp>
        <p:nvSpPr>
          <p:cNvPr id="33" name="Text 25">
            <a:extLst>
              <a:ext uri="{FF2B5EF4-FFF2-40B4-BE49-F238E27FC236}">
                <a16:creationId xmlns:a16="http://schemas.microsoft.com/office/drawing/2014/main" id="{BBE24260-2153-CF55-5915-B9F044D44318}"/>
              </a:ext>
            </a:extLst>
          </p:cNvPr>
          <p:cNvSpPr/>
          <p:nvPr/>
        </p:nvSpPr>
        <p:spPr>
          <a:xfrm>
            <a:off x="6400800" y="400507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Leaking Point Detection</a:t>
            </a:r>
            <a:endParaRPr lang="en-US" sz="1100" dirty="0"/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B8E4FD6F-CFE1-AB27-3DC7-E8E2D1B74017}"/>
              </a:ext>
            </a:extLst>
          </p:cNvPr>
          <p:cNvSpPr/>
          <p:nvPr/>
        </p:nvSpPr>
        <p:spPr>
          <a:xfrm>
            <a:off x="6400800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exactly where your funnel loses users and revenue across channels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997433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8F0D07-6755-D0E7-AE82-35E68BA8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39E57F-1B4B-9833-0AC5-47EFD60BBCB9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B7467DD-52CB-B8CE-2BE9-0AE796041D6C}"/>
              </a:ext>
            </a:extLst>
          </p:cNvPr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Targeting</a:t>
            </a:r>
            <a:endParaRPr lang="en-US" sz="3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B392F1-8B9B-725E-455F-0883A9135D07}"/>
              </a:ext>
            </a:extLst>
          </p:cNvPr>
          <p:cNvSpPr txBox="1"/>
          <p:nvPr/>
        </p:nvSpPr>
        <p:spPr>
          <a:xfrm>
            <a:off x="641630" y="1473342"/>
            <a:ext cx="4031970" cy="289310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r>
              <a:rPr lang="en-US" sz="1300" b="1" dirty="0">
                <a:solidFill>
                  <a:schemeClr val="bg1"/>
                </a:solidFill>
              </a:rPr>
              <a:t>1. Tech start-ups and scale-ups</a:t>
            </a:r>
          </a:p>
          <a:p>
            <a:endParaRPr lang="en-US" sz="13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1"/>
                </a:solidFill>
              </a:rPr>
              <a:t>Blind Growth Decisions:                                           </a:t>
            </a:r>
            <a:r>
              <a:rPr lang="en-US" sz="1300" dirty="0">
                <a:solidFill>
                  <a:schemeClr val="bg1"/>
                </a:solidFill>
              </a:rPr>
              <a:t>Critical leaking points can go undetected for months, but lack bandwidth to solve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Overload, Zero Insights:                                   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Juggle 10+ disconnected tools (GA4, Google Ads, Meta, LinkedIn, GSC, CRM). Data in silos, nobody connecting the dots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Consultants Are Unaffordable:</a:t>
            </a:r>
            <a:endParaRPr lang="en-US" sz="1300" dirty="0"/>
          </a:p>
          <a:p>
            <a:r>
              <a:rPr lang="en-US" sz="1300" dirty="0">
                <a:solidFill>
                  <a:schemeClr val="bg1"/>
                </a:solidFill>
              </a:rPr>
              <a:t>       And investors think Founders know this stuff &amp; can    </a:t>
            </a:r>
          </a:p>
          <a:p>
            <a:r>
              <a:rPr lang="en-US" sz="1300" dirty="0">
                <a:solidFill>
                  <a:schemeClr val="bg1"/>
                </a:solidFill>
              </a:rPr>
              <a:t>       handle in-house but it needs multiple specialisms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C943C-E42B-B414-354A-79BEF7F4E4C7}"/>
              </a:ext>
            </a:extLst>
          </p:cNvPr>
          <p:cNvSpPr txBox="1"/>
          <p:nvPr/>
        </p:nvSpPr>
        <p:spPr>
          <a:xfrm>
            <a:off x="4849576" y="1481806"/>
            <a:ext cx="4031970" cy="289310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r>
              <a:rPr lang="en-US" sz="1300" b="1" dirty="0">
                <a:solidFill>
                  <a:schemeClr val="bg1"/>
                </a:solidFill>
              </a:rPr>
              <a:t>2. Service &amp; Manufacturing SMEs (50-500 employees)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1"/>
                </a:solidFill>
              </a:rPr>
              <a:t>Recognized need:                                                            </a:t>
            </a:r>
            <a:r>
              <a:rPr lang="en-US" sz="1300" dirty="0">
                <a:solidFill>
                  <a:schemeClr val="bg1"/>
                </a:solidFill>
              </a:rPr>
              <a:t>Know they don’t have a grip on digital assets or real ecosystem. Know being more ‘active’ can pay back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1"/>
                </a:solidFill>
              </a:rPr>
              <a:t>Can allocate modest budget:                                           </a:t>
            </a:r>
            <a:r>
              <a:rPr lang="en-US" sz="1300" dirty="0">
                <a:solidFill>
                  <a:schemeClr val="bg1"/>
                </a:solidFill>
              </a:rPr>
              <a:t>AI developments make content accessible/affordable &amp; have $ enough for some level of experiment across selected paid and organic 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1"/>
                </a:solidFill>
              </a:rPr>
              <a:t>Marketing &amp; IT team limits:</a:t>
            </a:r>
          </a:p>
          <a:p>
            <a:r>
              <a:rPr lang="en-US" sz="1300" b="1" dirty="0">
                <a:solidFill>
                  <a:schemeClr val="bg1"/>
                </a:solidFill>
              </a:rPr>
              <a:t>       </a:t>
            </a:r>
            <a:r>
              <a:rPr lang="en-US" sz="1300" dirty="0">
                <a:solidFill>
                  <a:schemeClr val="bg1"/>
                </a:solidFill>
              </a:rPr>
              <a:t>Likely to have limited knowledge team in house, in   </a:t>
            </a:r>
          </a:p>
          <a:p>
            <a:r>
              <a:rPr lang="en-US" sz="1300" dirty="0">
                <a:solidFill>
                  <a:schemeClr val="bg1"/>
                </a:solidFill>
              </a:rPr>
              <a:t>       need of guidance &amp; executional support </a:t>
            </a: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D96FDAE8-7D9B-F981-0FE5-002F0533985E}"/>
              </a:ext>
            </a:extLst>
          </p:cNvPr>
          <p:cNvSpPr/>
          <p:nvPr/>
        </p:nvSpPr>
        <p:spPr>
          <a:xfrm>
            <a:off x="1371600" y="317059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F6EB3-13F4-C29F-4A19-E61978BF2F3C}"/>
              </a:ext>
            </a:extLst>
          </p:cNvPr>
          <p:cNvSpPr txBox="1"/>
          <p:nvPr/>
        </p:nvSpPr>
        <p:spPr>
          <a:xfrm>
            <a:off x="641631" y="4461933"/>
            <a:ext cx="4031970" cy="49244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b="1" dirty="0" err="1">
                <a:solidFill>
                  <a:schemeClr val="bg1"/>
                </a:solidFill>
              </a:rPr>
              <a:t>GrowthWise</a:t>
            </a:r>
            <a:r>
              <a:rPr lang="en-US" sz="1300" b="1" dirty="0">
                <a:solidFill>
                  <a:schemeClr val="bg1"/>
                </a:solidFill>
              </a:rPr>
              <a:t> focus: </a:t>
            </a:r>
            <a:r>
              <a:rPr lang="en-US" sz="1300" dirty="0">
                <a:solidFill>
                  <a:schemeClr val="bg1"/>
                </a:solidFill>
              </a:rPr>
              <a:t>Tech credibility for other SMEs, latest channel exposure, VC visibility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7B7016-1515-4D70-FE21-F4FBF1776FBB}"/>
              </a:ext>
            </a:extLst>
          </p:cNvPr>
          <p:cNvSpPr txBox="1"/>
          <p:nvPr/>
        </p:nvSpPr>
        <p:spPr>
          <a:xfrm>
            <a:off x="4832643" y="4453466"/>
            <a:ext cx="4031970" cy="49244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b="1" dirty="0" err="1">
                <a:solidFill>
                  <a:schemeClr val="bg1"/>
                </a:solidFill>
              </a:rPr>
              <a:t>GrowthWise</a:t>
            </a:r>
            <a:r>
              <a:rPr lang="en-US" sz="1300" b="1" dirty="0">
                <a:solidFill>
                  <a:schemeClr val="bg1"/>
                </a:solidFill>
              </a:rPr>
              <a:t> focus: </a:t>
            </a:r>
            <a:r>
              <a:rPr lang="en-US" sz="1300" dirty="0">
                <a:solidFill>
                  <a:schemeClr val="bg1"/>
                </a:solidFill>
              </a:rPr>
              <a:t>Enormous enterprise numbers, springboard to consult &amp; spend implementation services</a:t>
            </a:r>
          </a:p>
        </p:txBody>
      </p:sp>
    </p:spTree>
    <p:extLst>
      <p:ext uri="{BB962C8B-B14F-4D97-AF65-F5344CB8AC3E}">
        <p14:creationId xmlns:p14="http://schemas.microsoft.com/office/powerpoint/2010/main" val="756467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Product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840480" y="4572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(Phase 1)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453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508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connector (sessions, engagement, conversions, revenue)</a:t>
            </a:r>
            <a:endParaRPr 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11096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1874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automated daily growth audits</a:t>
            </a:r>
            <a:endParaRPr lang="en-US" sz="10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76856"/>
            <a:ext cx="182880" cy="182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43000" y="2240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sprint plan &amp; prioritised to-do list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642616"/>
            <a:ext cx="182880" cy="1828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43000" y="2606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Health Score (0-100 scale)</a:t>
            </a:r>
            <a:endParaRPr lang="en-US" sz="10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08376"/>
            <a:ext cx="182880" cy="18288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4300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AI-ranked issue dashboard</a:t>
            </a:r>
            <a:endParaRPr lang="en-US" sz="10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74136"/>
            <a:ext cx="182880" cy="18288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4300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alert delivery</a:t>
            </a:r>
            <a:endParaRPr lang="en-US" sz="1000" dirty="0"/>
          </a:p>
        </p:txBody>
      </p:sp>
      <p:sp>
        <p:nvSpPr>
          <p:cNvPr id="19" name="Text 11"/>
          <p:cNvSpPr/>
          <p:nvPr/>
        </p:nvSpPr>
        <p:spPr>
          <a:xfrm>
            <a:off x="493776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4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Q3-Q4 2026 (Phase 2)</a:t>
            </a:r>
            <a:endParaRPr lang="en-US" sz="13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545336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53492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(spend, impressions, CTR, CPA)</a:t>
            </a:r>
            <a:endParaRPr lang="en-US" sz="10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911096"/>
            <a:ext cx="182880" cy="18288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534924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(spend, impressions, link CTR, CPA)</a:t>
            </a:r>
            <a:endParaRPr lang="en-US" sz="10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276856"/>
            <a:ext cx="182880" cy="18288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349240" y="2240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Ads (spend, impressions, CTR, CPL)</a:t>
            </a:r>
            <a:endParaRPr lang="en-US" sz="10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42616"/>
            <a:ext cx="182880" cy="18288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349240" y="2606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Search Console (impressions, clicks, CTR)</a:t>
            </a:r>
            <a:endParaRPr lang="en-US" sz="10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008376"/>
            <a:ext cx="182880" cy="18288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534924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audit (tag health, missing triggers)</a:t>
            </a:r>
            <a:endParaRPr lang="en-US" sz="100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374136"/>
            <a:ext cx="182880" cy="18288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349240" y="3337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anomaly alerts + Slack delivery</a:t>
            </a:r>
            <a:endParaRPr lang="en-US" sz="1000" dirty="0"/>
          </a:p>
        </p:txBody>
      </p:sp>
      <p:sp>
        <p:nvSpPr>
          <p:cNvPr id="32" name="Shape 18"/>
          <p:cNvSpPr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solidFill>
            <a:srgbClr val="161630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19"/>
          <p:cNvSpPr/>
          <p:nvPr/>
        </p:nvSpPr>
        <p:spPr>
          <a:xfrm>
            <a:off x="9144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Claude AI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914400" y="42062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powers three core capabilities live today: automated daily growth audits, anomaly identification across connected channels, and weekly prioritised sprint plan generation with team-specific action items.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1FEAB-2DFA-F115-6E5F-9EAED862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013077-8C6A-8BEE-DBB4-AFB0A70473DF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6548D39-1AFD-E449-96B6-ADEBC9502179}"/>
              </a:ext>
            </a:extLst>
          </p:cNvPr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 roadmap (</a:t>
            </a: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e.g. only)</a:t>
            </a:r>
            <a:endParaRPr lang="en-US" sz="3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C493E9-798C-DA02-693A-9E8CFA70F80D}"/>
              </a:ext>
            </a:extLst>
          </p:cNvPr>
          <p:cNvSpPr/>
          <p:nvPr/>
        </p:nvSpPr>
        <p:spPr>
          <a:xfrm>
            <a:off x="731520" y="10058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9D0B8-2C0A-4421-E096-20D092F86F9E}"/>
              </a:ext>
            </a:extLst>
          </p:cNvPr>
          <p:cNvSpPr/>
          <p:nvPr/>
        </p:nvSpPr>
        <p:spPr>
          <a:xfrm>
            <a:off x="469050" y="1783080"/>
            <a:ext cx="1952413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61AF6DB-AD8B-BA77-F66E-EF3D686F89ED}"/>
              </a:ext>
            </a:extLst>
          </p:cNvPr>
          <p:cNvSpPr/>
          <p:nvPr/>
        </p:nvSpPr>
        <p:spPr>
          <a:xfrm>
            <a:off x="651930" y="196596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8100D96D-B7E9-A3D1-A46F-36904E351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082" y="2039112"/>
            <a:ext cx="292608" cy="292608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4A7524EE-28DC-4BE9-C3C5-69612C7F0F78}"/>
              </a:ext>
            </a:extLst>
          </p:cNvPr>
          <p:cNvSpPr/>
          <p:nvPr/>
        </p:nvSpPr>
        <p:spPr>
          <a:xfrm>
            <a:off x="651930" y="249631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Google &amp; other organic </a:t>
            </a: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C77A962-A47C-9B6F-E7A3-898540C920AF}"/>
              </a:ext>
            </a:extLst>
          </p:cNvPr>
          <p:cNvSpPr/>
          <p:nvPr/>
        </p:nvSpPr>
        <p:spPr>
          <a:xfrm>
            <a:off x="2636515" y="1783080"/>
            <a:ext cx="1850813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503C3EE-0809-1103-2BAD-8E81F87E51F8}"/>
              </a:ext>
            </a:extLst>
          </p:cNvPr>
          <p:cNvSpPr/>
          <p:nvPr/>
        </p:nvSpPr>
        <p:spPr>
          <a:xfrm>
            <a:off x="2819395" y="196596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E80B74BE-91D1-51FA-45B8-88A48B687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2547" y="2039112"/>
            <a:ext cx="292608" cy="292608"/>
          </a:xfrm>
          <a:prstGeom prst="rect">
            <a:avLst/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B39E204D-64B3-D599-1420-42FBBE7F60B6}"/>
              </a:ext>
            </a:extLst>
          </p:cNvPr>
          <p:cNvSpPr/>
          <p:nvPr/>
        </p:nvSpPr>
        <p:spPr>
          <a:xfrm>
            <a:off x="2819395" y="249631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LinkedIn; Meta; Tik Tok </a:t>
            </a:r>
            <a:endParaRPr lang="en-US" sz="11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20A5FA40-7E89-771A-B4D4-5D27F696488B}"/>
              </a:ext>
            </a:extLst>
          </p:cNvPr>
          <p:cNvSpPr/>
          <p:nvPr/>
        </p:nvSpPr>
        <p:spPr>
          <a:xfrm>
            <a:off x="4702383" y="1783080"/>
            <a:ext cx="2011680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C625D4F-D738-4EE2-7170-99832FB08916}"/>
              </a:ext>
            </a:extLst>
          </p:cNvPr>
          <p:cNvSpPr/>
          <p:nvPr/>
        </p:nvSpPr>
        <p:spPr>
          <a:xfrm>
            <a:off x="4885263" y="196596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155FC5AB-4FDB-860B-52C2-80B59D6B84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8415" y="2039112"/>
            <a:ext cx="292608" cy="292608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1E65F171-5DFD-22C5-0158-7EE0555BD1DA}"/>
              </a:ext>
            </a:extLst>
          </p:cNvPr>
          <p:cNvSpPr/>
          <p:nvPr/>
        </p:nvSpPr>
        <p:spPr>
          <a:xfrm>
            <a:off x="4885263" y="249631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Commerce/SM </a:t>
            </a:r>
            <a:endParaRPr lang="en-US" sz="11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6D343B2A-6DA5-F3D4-48E7-43897CDBDBBA}"/>
              </a:ext>
            </a:extLst>
          </p:cNvPr>
          <p:cNvSpPr/>
          <p:nvPr/>
        </p:nvSpPr>
        <p:spPr>
          <a:xfrm>
            <a:off x="4885263" y="2697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Chinese channels, Influencer</a:t>
            </a:r>
            <a:endParaRPr lang="en-US" sz="9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EF8969BA-B9A7-60D9-AAA6-59AF92EC1726}"/>
              </a:ext>
            </a:extLst>
          </p:cNvPr>
          <p:cNvSpPr/>
          <p:nvPr/>
        </p:nvSpPr>
        <p:spPr>
          <a:xfrm>
            <a:off x="6878341" y="1767840"/>
            <a:ext cx="1952413" cy="1280160"/>
          </a:xfrm>
          <a:prstGeom prst="rect">
            <a:avLst/>
          </a:prstGeom>
          <a:solidFill>
            <a:srgbClr val="161630"/>
          </a:solidFill>
          <a:ln/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3D10FAC9-BD43-E084-E401-799516EC13A1}"/>
              </a:ext>
            </a:extLst>
          </p:cNvPr>
          <p:cNvSpPr/>
          <p:nvPr/>
        </p:nvSpPr>
        <p:spPr>
          <a:xfrm>
            <a:off x="7061221" y="1950720"/>
            <a:ext cx="438912" cy="438912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6C212ED4-3EF2-7F08-4201-2142C1B8F2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4373" y="2023872"/>
            <a:ext cx="292608" cy="292608"/>
          </a:xfrm>
          <a:prstGeom prst="rect">
            <a:avLst/>
          </a:prstGeom>
        </p:spPr>
      </p:pic>
      <p:sp>
        <p:nvSpPr>
          <p:cNvPr id="23" name="Text 17">
            <a:extLst>
              <a:ext uri="{FF2B5EF4-FFF2-40B4-BE49-F238E27FC236}">
                <a16:creationId xmlns:a16="http://schemas.microsoft.com/office/drawing/2014/main" id="{79244484-9877-BF3C-5B56-1155DA9568A1}"/>
              </a:ext>
            </a:extLst>
          </p:cNvPr>
          <p:cNvSpPr/>
          <p:nvPr/>
        </p:nvSpPr>
        <p:spPr>
          <a:xfrm>
            <a:off x="7095089" y="248107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optimized spend</a:t>
            </a:r>
            <a:endParaRPr lang="en-US" sz="1100" dirty="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91C9B0B2-AB7E-8DA0-2941-98E7EE9D9577}"/>
              </a:ext>
            </a:extLst>
          </p:cNvPr>
          <p:cNvSpPr/>
          <p:nvPr/>
        </p:nvSpPr>
        <p:spPr>
          <a:xfrm>
            <a:off x="7095089" y="2682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Wise campaign management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826398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subscription  |  B2B global  |  White-label expansion Q3 2027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965960" cy="3246120"/>
          </a:xfrm>
          <a:prstGeom prst="rect">
            <a:avLst/>
          </a:prstGeom>
          <a:solidFill>
            <a:srgbClr val="161630"/>
          </a:solidFill>
          <a:ln w="6350">
            <a:solidFill>
              <a:srgbClr val="666680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" y="2743200"/>
            <a:ext cx="1691640" cy="0"/>
          </a:xfrm>
          <a:prstGeom prst="line">
            <a:avLst/>
          </a:prstGeom>
          <a:noFill/>
          <a:ln w="6350">
            <a:solidFill>
              <a:srgbClr val="6666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07792"/>
            <a:ext cx="146304" cy="14630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connector only</a:t>
            </a:r>
            <a:endParaRPr lang="en-US" sz="8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55264"/>
            <a:ext cx="146304" cy="14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2960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Health Score</a:t>
            </a:r>
            <a:endParaRPr lang="en-US" sz="8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02736"/>
            <a:ext cx="146304" cy="1463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960" y="3575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email reports</a:t>
            </a:r>
            <a:endParaRPr lang="en-US" sz="8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5020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2960" y="39227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access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2606040" y="1463040"/>
            <a:ext cx="1965960" cy="3246120"/>
          </a:xfrm>
          <a:prstGeom prst="rect">
            <a:avLst/>
          </a:prstGeom>
          <a:solidFill>
            <a:srgbClr val="1C1C42"/>
          </a:solidFill>
          <a:ln w="25400">
            <a:solidFill>
              <a:srgbClr val="00D4AA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2926080" y="1325880"/>
            <a:ext cx="1280160" cy="25603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2926080" y="1325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21" name="Text 15"/>
          <p:cNvSpPr/>
          <p:nvPr/>
        </p:nvSpPr>
        <p:spPr>
          <a:xfrm>
            <a:off x="2743200" y="164592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2743200" y="1874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$299</a:t>
            </a:r>
            <a:endParaRPr lang="en-US" sz="2800" dirty="0"/>
          </a:p>
        </p:txBody>
      </p:sp>
      <p:sp>
        <p:nvSpPr>
          <p:cNvPr id="23" name="Text 17"/>
          <p:cNvSpPr/>
          <p:nvPr/>
        </p:nvSpPr>
        <p:spPr>
          <a:xfrm>
            <a:off x="2743200" y="22860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2743200" y="24688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to Series A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2743200" y="2743200"/>
            <a:ext cx="1691640" cy="0"/>
          </a:xfrm>
          <a:prstGeom prst="line">
            <a:avLst/>
          </a:prstGeom>
          <a:noFill/>
          <a:ln w="6350">
            <a:solidFill>
              <a:srgbClr val="6666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07792"/>
            <a:ext cx="146304" cy="1463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97180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Google/Meta/LinkedIn Ads</a:t>
            </a:r>
            <a:endParaRPr lang="en-US" sz="8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255264"/>
            <a:ext cx="146304" cy="14630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2971800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Console integration</a:t>
            </a:r>
            <a:endParaRPr lang="en-US" sz="85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602736"/>
            <a:ext cx="146304" cy="14630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2971800" y="3575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daily audits</a:t>
            </a:r>
            <a:endParaRPr lang="en-US" sz="8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950208"/>
            <a:ext cx="146304" cy="146304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2971800" y="39227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planner + to-dos</a:t>
            </a:r>
            <a:endParaRPr lang="en-US" sz="850" dirty="0"/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297680"/>
            <a:ext cx="146304" cy="14630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2971800" y="4270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alerts</a:t>
            </a:r>
            <a:endParaRPr lang="en-US" sz="850" dirty="0"/>
          </a:p>
        </p:txBody>
      </p:sp>
      <p:sp>
        <p:nvSpPr>
          <p:cNvPr id="36" name="Shape 25"/>
          <p:cNvSpPr/>
          <p:nvPr/>
        </p:nvSpPr>
        <p:spPr>
          <a:xfrm>
            <a:off x="4754880" y="1463040"/>
            <a:ext cx="1965960" cy="3246120"/>
          </a:xfrm>
          <a:prstGeom prst="rect">
            <a:avLst/>
          </a:prstGeom>
          <a:solidFill>
            <a:srgbClr val="161630"/>
          </a:solidFill>
          <a:ln w="6350">
            <a:solidFill>
              <a:srgbClr val="666680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26"/>
          <p:cNvSpPr/>
          <p:nvPr/>
        </p:nvSpPr>
        <p:spPr>
          <a:xfrm>
            <a:off x="4892040" y="164592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4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200" dirty="0"/>
          </a:p>
        </p:txBody>
      </p:sp>
      <p:sp>
        <p:nvSpPr>
          <p:cNvPr id="38" name="Text 27"/>
          <p:cNvSpPr/>
          <p:nvPr/>
        </p:nvSpPr>
        <p:spPr>
          <a:xfrm>
            <a:off x="4892040" y="1874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$499</a:t>
            </a:r>
            <a:endParaRPr lang="en-US" sz="2800" dirty="0"/>
          </a:p>
        </p:txBody>
      </p:sp>
      <p:sp>
        <p:nvSpPr>
          <p:cNvPr id="39" name="Text 28"/>
          <p:cNvSpPr/>
          <p:nvPr/>
        </p:nvSpPr>
        <p:spPr>
          <a:xfrm>
            <a:off x="4892040" y="22860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900" dirty="0"/>
          </a:p>
        </p:txBody>
      </p:sp>
      <p:sp>
        <p:nvSpPr>
          <p:cNvPr id="40" name="Text 29"/>
          <p:cNvSpPr/>
          <p:nvPr/>
        </p:nvSpPr>
        <p:spPr>
          <a:xfrm>
            <a:off x="4892040" y="24688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Scale-ups &amp; agencies</a:t>
            </a:r>
            <a:endParaRPr lang="en-US" sz="900" dirty="0"/>
          </a:p>
        </p:txBody>
      </p:sp>
      <p:sp>
        <p:nvSpPr>
          <p:cNvPr id="41" name="Shape 30"/>
          <p:cNvSpPr/>
          <p:nvPr/>
        </p:nvSpPr>
        <p:spPr>
          <a:xfrm>
            <a:off x="4892040" y="2743200"/>
            <a:ext cx="1691640" cy="0"/>
          </a:xfrm>
          <a:prstGeom prst="line">
            <a:avLst/>
          </a:prstGeom>
          <a:noFill/>
          <a:ln w="6350">
            <a:solidFill>
              <a:srgbClr val="6666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907792"/>
            <a:ext cx="146304" cy="146304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512064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Growth channels + GTM</a:t>
            </a:r>
            <a:endParaRPr lang="en-US" sz="850" dirty="0"/>
          </a:p>
        </p:txBody>
      </p:sp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255264"/>
            <a:ext cx="146304" cy="146304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5120640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playbooks &amp; benchmarks</a:t>
            </a:r>
            <a:endParaRPr lang="en-US" sz="850" dirty="0"/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602736"/>
            <a:ext cx="146304" cy="146304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5120640" y="3575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scoring</a:t>
            </a:r>
            <a:endParaRPr lang="en-US" sz="850" dirty="0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950208"/>
            <a:ext cx="146304" cy="146304"/>
          </a:xfrm>
          <a:prstGeom prst="rect">
            <a:avLst/>
          </a:prstGeom>
        </p:spPr>
      </p:pic>
      <p:sp>
        <p:nvSpPr>
          <p:cNvPr id="49" name="Text 34"/>
          <p:cNvSpPr/>
          <p:nvPr/>
        </p:nvSpPr>
        <p:spPr>
          <a:xfrm>
            <a:off x="5120640" y="39227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Leaking point detection</a:t>
            </a:r>
            <a:endParaRPr lang="en-US" sz="850" dirty="0"/>
          </a:p>
        </p:txBody>
      </p:sp>
      <p:pic>
        <p:nvPicPr>
          <p:cNvPr id="50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297680"/>
            <a:ext cx="146304" cy="146304"/>
          </a:xfrm>
          <a:prstGeom prst="rect">
            <a:avLst/>
          </a:prstGeom>
        </p:spPr>
      </p:pic>
      <p:sp>
        <p:nvSpPr>
          <p:cNvPr id="51" name="Text 35"/>
          <p:cNvSpPr/>
          <p:nvPr/>
        </p:nvSpPr>
        <p:spPr>
          <a:xfrm>
            <a:off x="5120640" y="4270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850" dirty="0"/>
          </a:p>
        </p:txBody>
      </p:sp>
      <p:sp>
        <p:nvSpPr>
          <p:cNvPr id="52" name="Shape 36"/>
          <p:cNvSpPr/>
          <p:nvPr/>
        </p:nvSpPr>
        <p:spPr>
          <a:xfrm>
            <a:off x="6903720" y="1463040"/>
            <a:ext cx="1965960" cy="3246120"/>
          </a:xfrm>
          <a:prstGeom prst="rect">
            <a:avLst/>
          </a:prstGeom>
          <a:solidFill>
            <a:srgbClr val="161630"/>
          </a:solidFill>
          <a:ln w="6350">
            <a:solidFill>
              <a:srgbClr val="666680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Text 37"/>
          <p:cNvSpPr/>
          <p:nvPr/>
        </p:nvSpPr>
        <p:spPr>
          <a:xfrm>
            <a:off x="7040880" y="164592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</a:t>
            </a:r>
            <a:endParaRPr lang="en-US" sz="1200" dirty="0"/>
          </a:p>
        </p:txBody>
      </p:sp>
      <p:sp>
        <p:nvSpPr>
          <p:cNvPr id="54" name="Text 38"/>
          <p:cNvSpPr/>
          <p:nvPr/>
        </p:nvSpPr>
        <p:spPr>
          <a:xfrm>
            <a:off x="7040880" y="1874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</a:t>
            </a:r>
            <a:endParaRPr lang="en-US" sz="2800" dirty="0"/>
          </a:p>
        </p:txBody>
      </p:sp>
      <p:sp>
        <p:nvSpPr>
          <p:cNvPr id="55" name="Text 39"/>
          <p:cNvSpPr/>
          <p:nvPr/>
        </p:nvSpPr>
        <p:spPr>
          <a:xfrm>
            <a:off x="7040880" y="24688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(Q3 2027)</a:t>
            </a:r>
            <a:endParaRPr lang="en-US" sz="900" dirty="0"/>
          </a:p>
        </p:txBody>
      </p:sp>
      <p:sp>
        <p:nvSpPr>
          <p:cNvPr id="56" name="Shape 40"/>
          <p:cNvSpPr/>
          <p:nvPr/>
        </p:nvSpPr>
        <p:spPr>
          <a:xfrm>
            <a:off x="7040880" y="2743200"/>
            <a:ext cx="1691640" cy="0"/>
          </a:xfrm>
          <a:prstGeom prst="line">
            <a:avLst/>
          </a:prstGeom>
          <a:noFill/>
          <a:ln w="6350">
            <a:solidFill>
              <a:srgbClr val="6666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7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907792"/>
            <a:ext cx="146304" cy="146304"/>
          </a:xfrm>
          <a:prstGeom prst="rect">
            <a:avLst/>
          </a:prstGeom>
        </p:spPr>
      </p:pic>
      <p:sp>
        <p:nvSpPr>
          <p:cNvPr id="58" name="Text 41"/>
          <p:cNvSpPr/>
          <p:nvPr/>
        </p:nvSpPr>
        <p:spPr>
          <a:xfrm>
            <a:off x="726948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 features</a:t>
            </a:r>
            <a:endParaRPr lang="en-US" sz="850" dirty="0"/>
          </a:p>
        </p:txBody>
      </p:sp>
      <p:pic>
        <p:nvPicPr>
          <p:cNvPr id="59" name="Image 1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255264"/>
            <a:ext cx="146304" cy="146304"/>
          </a:xfrm>
          <a:prstGeom prst="rect">
            <a:avLst/>
          </a:prstGeom>
        </p:spPr>
      </p:pic>
      <p:sp>
        <p:nvSpPr>
          <p:cNvPr id="60" name="Text 42"/>
          <p:cNvSpPr/>
          <p:nvPr/>
        </p:nvSpPr>
        <p:spPr>
          <a:xfrm>
            <a:off x="7269480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rebrand capability</a:t>
            </a:r>
            <a:endParaRPr lang="en-US" sz="850" dirty="0"/>
          </a:p>
        </p:txBody>
      </p:sp>
      <p:pic>
        <p:nvPicPr>
          <p:cNvPr id="61" name="Image 1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602736"/>
            <a:ext cx="146304" cy="146304"/>
          </a:xfrm>
          <a:prstGeom prst="rect">
            <a:avLst/>
          </a:prstGeom>
        </p:spPr>
      </p:pic>
      <p:sp>
        <p:nvSpPr>
          <p:cNvPr id="62" name="Text 43"/>
          <p:cNvSpPr/>
          <p:nvPr/>
        </p:nvSpPr>
        <p:spPr>
          <a:xfrm>
            <a:off x="7269480" y="3575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Multi-client dashboard</a:t>
            </a:r>
            <a:endParaRPr lang="en-US" sz="850" dirty="0"/>
          </a:p>
        </p:txBody>
      </p:sp>
      <p:pic>
        <p:nvPicPr>
          <p:cNvPr id="63" name="Image 1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950208"/>
            <a:ext cx="146304" cy="146304"/>
          </a:xfrm>
          <a:prstGeom prst="rect">
            <a:avLst/>
          </a:prstGeom>
        </p:spPr>
      </p:pic>
      <p:sp>
        <p:nvSpPr>
          <p:cNvPr id="64" name="Text 44"/>
          <p:cNvSpPr/>
          <p:nvPr/>
        </p:nvSpPr>
        <p:spPr>
          <a:xfrm>
            <a:off x="7269480" y="39227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share model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00D4AA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7C4FD4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grow together.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Ozlem Degirmenci Gulser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Co-Founder, GrowthWise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ozlem@growthwise.tech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www.growthwisebusiness.com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99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 &amp; Istanbul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572000"/>
            <a:ext cx="2926080" cy="34747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Data Room Available on Request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1084</Words>
  <Application>Microsoft Macintosh PowerPoint</Application>
  <PresentationFormat>On-screen Show (16:9)</PresentationFormat>
  <Paragraphs>162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GrowthWise - Investor Pitch Deck 2026</dc:title>
  <dc:subject>PptxGenJS Presentation</dc:subject>
  <dc:creator>GrowthWise</dc:creator>
  <cp:lastModifiedBy>Özlem Değirmenci</cp:lastModifiedBy>
  <cp:revision>5</cp:revision>
  <dcterms:created xsi:type="dcterms:W3CDTF">2026-03-24T07:28:43Z</dcterms:created>
  <dcterms:modified xsi:type="dcterms:W3CDTF">2026-03-30T05:46:09Z</dcterms:modified>
</cp:coreProperties>
</file>