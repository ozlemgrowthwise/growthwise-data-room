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($K)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'26</c:v>
                  </c:pt>
                  <c:pt idx="1">
                    <c:v>Q2 '26</c:v>
                  </c:pt>
                  <c:pt idx="2">
                    <c:v>Q3 '26</c:v>
                  </c:pt>
                  <c:pt idx="3">
                    <c:v>Q4 '26</c:v>
                  </c:pt>
                  <c:pt idx="4">
                    <c:v>Q1 '27</c:v>
                  </c:pt>
                  <c:pt idx="5">
                    <c:v>Q2 '27</c:v>
                  </c:pt>
                  <c:pt idx="6">
                    <c:v>Q3 '27</c:v>
                  </c:pt>
                  <c:pt idx="7">
                    <c:v>Q4 '27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</c:v>
                </c:pt>
                <c:pt idx="1">
                  <c:v>8</c:v>
                </c:pt>
                <c:pt idx="2">
                  <c:v>18</c:v>
                </c:pt>
                <c:pt idx="3">
                  <c:v>32</c:v>
                </c:pt>
                <c:pt idx="4">
                  <c:v>55</c:v>
                </c:pt>
                <c:pt idx="5">
                  <c:v>95</c:v>
                </c:pt>
                <c:pt idx="6">
                  <c:v>145</c:v>
                </c:pt>
                <c:pt idx="7">
                  <c:v>175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2222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0000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5029200" cy="5029200"/>
          </a:xfrm>
          <a:prstGeom prst="ellipse">
            <a:avLst/>
          </a:prstGeom>
          <a:solidFill>
            <a:srgbClr val="00D4AA">
              <a:alpha val="3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08776" y="-466344"/>
            <a:ext cx="3218688" cy="321868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560320"/>
            <a:ext cx="2743200" cy="2743200"/>
          </a:xfrm>
          <a:prstGeom prst="ellipse">
            <a:avLst/>
          </a:prstGeom>
          <a:solidFill>
            <a:srgbClr val="FF4B4B">
              <a:alpha val="3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3108960"/>
            <a:ext cx="1645920" cy="1645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3474720"/>
            <a:ext cx="2926080" cy="2926080"/>
          </a:xfrm>
          <a:prstGeom prst="ellipse">
            <a:avLst/>
          </a:prstGeom>
          <a:solidFill>
            <a:srgbClr val="4472E0">
              <a:alpha val="28000"/>
            </a:srgbClr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28816" y="4059936"/>
            <a:ext cx="1755648" cy="17556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0" descr="/sessions/wizardly-clever-dirac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237744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8686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GrowthWise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457200" y="2057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fractional co-founder as a platform"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empowers you to craft growth strategies from the ground up.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3218688"/>
            <a:ext cx="347472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40156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4015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2026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773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www.growthwisebusiness.com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83280" y="4773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ozlem@growthwise.tech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4773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Istanbul · Barcelona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00D4AA">
              <a:alpha val="2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56616" y="-173736"/>
            <a:ext cx="2633472" cy="2633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FF4B4B">
              <a:alpha val="2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0" y="3840480"/>
            <a:ext cx="1920240" cy="19202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749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303520" y="16459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61%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530352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 FOUNDERS SAY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03520" y="171907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THEY FEEL </a:t>
            </a:r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UNCERTAIN ABOUT
</a:t>
            </a:r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METRICS TO </a:t>
            </a:r>
            <a:pPr algn="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TRACK*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0" y="2880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*foundersnetwork.com/startup-metrics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17320" y="320040"/>
            <a:ext cx="54864" cy="411480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61872" y="667512"/>
            <a:ext cx="256032" cy="25603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731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clear roadmap in growth strategies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61872" y="2313432"/>
            <a:ext cx="256032" cy="256032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and experience gaps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297680"/>
            <a:ext cx="548640" cy="548640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5448" y="-155448"/>
            <a:ext cx="2048256" cy="204825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3600" dirty="0"/>
          </a:p>
        </p:txBody>
      </p:sp>
      <p:pic>
        <p:nvPicPr>
          <p:cNvPr id="5" name="Image 0" descr="/sessions/wizardly-clever-dirac/screensho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45720"/>
            <a:ext cx="4892040" cy="2560320"/>
          </a:xfrm>
          <a:prstGeom prst="rect">
            <a:avLst/>
          </a:prstGeom>
        </p:spPr>
      </p:pic>
      <p:pic>
        <p:nvPicPr>
          <p:cNvPr id="6" name="Image 1" descr="/sessions/wizardly-clever-dirac/screenshot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606040"/>
            <a:ext cx="4892040" cy="2423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1051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74320" y="14538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FF4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ENGINE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74320" y="17647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growth playbooks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Claude AI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2971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274320" y="33741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FF4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EXPERT &amp; AI STRATEGIES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74320" y="3685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audits, weekly sprint plans,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prioritised to-dos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240280" y="10515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240280" y="14538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FF4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ANALYTICS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240280" y="17647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Score, KPI tracking,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retention, benchmarks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240280" y="29718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2240280" y="33741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FF4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W/ TOOLS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240280" y="3685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GA4, Google Ads, Meta,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— connect in minutes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0D4AA">
              <a:alpha val="2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274320"/>
            <a:ext cx="2926080" cy="29260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LIVE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AI is live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GrowthWise.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integrated — working. Claude audits your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stack daily and generates a weekly sprint plan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your team always knows exactly what to fix next.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182112"/>
            <a:ext cx="2816352" cy="178308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3639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Daily Growth Audit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39867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analyses your GA4, ads and attribution data every 24h. Surfaces what's broken before you even ask.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3182112"/>
            <a:ext cx="2816352" cy="178308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9856" y="3639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Sprint Plan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19856" y="39867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sprint with prioritised to-dos. Your team opens Monday knowing exactly what to work 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3182112"/>
            <a:ext cx="2816352" cy="178308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34670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64224" y="3639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Plain-Language Fixes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3986784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issue comes with a step-by-step fix. No GA4 expertise needed. No agency needed.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FF4B4B">
              <a:alpha val="22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2194560" cy="219456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4472E0">
              <a:alpha val="20000"/>
            </a:srgbClr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3749040"/>
            <a:ext cx="1645920" cy="1645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· MARCH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revenue.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customers.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084832" cy="19659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2140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€4,850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74320" y="31272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2011680"/>
            <a:ext cx="2084832" cy="19659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212140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487168" y="31272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CUSTOMERS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0016" y="2011680"/>
            <a:ext cx="2084832" cy="19659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12140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4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NPS 62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4700016" y="31272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PROMOTER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12864" y="2011680"/>
            <a:ext cx="2084832" cy="19659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2121408"/>
            <a:ext cx="20848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47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$750K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912864" y="3127248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spc="15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 paid invoices verified: Extenship LLC (USA · €2,450) + Bulung Logistics GmbH (Austria · €2,400)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657600" cy="365760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56448" y="-73152"/>
            <a:ext cx="2340864" cy="2340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SIZE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868680"/>
            <a:ext cx="6400800" cy="512064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868680"/>
            <a:ext cx="6217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25.9B USD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2103120"/>
            <a:ext cx="4572000" cy="512064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10312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3.37B USD (EMEA)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0" y="3291840"/>
            <a:ext cx="2743200" cy="512064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29184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4.38M USD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1380744"/>
            <a:ext cx="0" cy="722376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772400" y="1380744"/>
            <a:ext cx="0" cy="722376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286000" y="2615184"/>
            <a:ext cx="0" cy="676656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858000" y="2615184"/>
            <a:ext cx="0" cy="676656"/>
          </a:xfrm>
          <a:prstGeom prst="line">
            <a:avLst/>
          </a:prstGeom>
          <a:noFill/>
          <a:ln w="12700">
            <a:solidFill>
              <a:srgbClr val="374151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371600" y="1399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633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Available Market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 (Year 3)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6032" y="-73152"/>
            <a:ext cx="2340864" cy="2340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4472E0">
              <a:alpha val="25000"/>
            </a:srgbClr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4114800"/>
            <a:ext cx="1920240" cy="19202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 global customer base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1536192"/>
            <a:ext cx="2121408" cy="3401568"/>
          </a:xfrm>
          <a:prstGeom prst="rect">
            <a:avLst/>
          </a:prstGeom>
          <a:solidFill>
            <a:srgbClr val="0E0E0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27632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9CA3AF">
              <a:alpha val="20000"/>
            </a:srgbClr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276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" y="1956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" y="22860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8328" y="28346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forever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" y="320040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GA4 Health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" y="35478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growth area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" y="38953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Weekly brief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" y="4242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Limited connectors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14016" y="1536192"/>
            <a:ext cx="2121408" cy="3401568"/>
          </a:xfrm>
          <a:prstGeom prst="rect">
            <a:avLst/>
          </a:prstGeom>
          <a:solidFill>
            <a:srgbClr val="1A1A1A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87168" y="1627632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16276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51176" y="1956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51176" y="22860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551176" y="28346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51176" y="320040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connectors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51176" y="35478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Claude AI audit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51176" y="38953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Weekly sprint plan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51176" y="4242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Health Score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1536192"/>
            <a:ext cx="2121408" cy="3401568"/>
          </a:xfrm>
          <a:prstGeom prst="rect">
            <a:avLst/>
          </a:prstGeom>
          <a:solidFill>
            <a:srgbClr val="0E0E0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1627632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4472E0">
              <a:alpha val="20000"/>
            </a:srgbClr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16276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47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64024" y="1956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64024" y="22860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$99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4764024" y="28346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64024" y="320040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users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64024" y="35478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dashboards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64024" y="38953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support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64024" y="4242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Dedicated success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39712" y="1536192"/>
            <a:ext cx="2121408" cy="3401568"/>
          </a:xfrm>
          <a:prstGeom prst="rect">
            <a:avLst/>
          </a:prstGeom>
          <a:solidFill>
            <a:srgbClr val="0E0E0E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2864" y="1627632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7C4FD4">
              <a:alpha val="20000"/>
            </a:srgbClr>
          </a:solidFill>
          <a:ln w="12700">
            <a:solidFill>
              <a:srgbClr val="7C4F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12864" y="162763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C4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76872" y="1956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White-label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76872" y="228600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976872" y="28346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76872" y="320040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rebrand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76872" y="354787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Multi-client portal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76872" y="3895344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Managed setup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76872" y="4242816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SLA included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FF4B4B">
              <a:alpha val="2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82880"/>
            <a:ext cx="1920240" cy="19202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057400" y="8686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886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29000" y="8686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886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00600" y="8686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86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886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543800" y="868680"/>
            <a:ext cx="1280160" cy="566928"/>
          </a:xfrm>
          <a:prstGeom prst="roundRect">
            <a:avLst>
              <a:gd name="adj" fmla="val 12903"/>
            </a:avLst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88696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01168" y="1536192"/>
            <a:ext cx="8741664" cy="62179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609344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0934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GROWTHWISE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1627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11880" y="1627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83480" y="1627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1627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26680" y="1627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01168" y="2194560"/>
            <a:ext cx="8741664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" y="2267712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2677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BASECAMP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22860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11880" y="22860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83480" y="22860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55080" y="22860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726680" y="22860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201168" y="2852928"/>
            <a:ext cx="8741664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2926080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29260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CLICK 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40280" y="29443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11880" y="29443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983480" y="29443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55080" y="29443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726680" y="29443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01168" y="3511296"/>
            <a:ext cx="8741664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3584448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358444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TASKADE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40280" y="360273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611880" y="360273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983480" y="360273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355080" y="360273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726680" y="360273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201168" y="4169664"/>
            <a:ext cx="8741664" cy="621792"/>
          </a:xfrm>
          <a:prstGeom prst="rect">
            <a:avLst/>
          </a:prstGeom>
          <a:solidFill>
            <a:srgbClr val="0D0D0D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6032" y="4242816"/>
            <a:ext cx="1645920" cy="475488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" y="42428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40280" y="42611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611880" y="42611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983480" y="42611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355080" y="42611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726680" y="42611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audits AND guides. GrowthWise is the only tool that does both.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3657600" cy="3657600"/>
          </a:xfrm>
          <a:prstGeom prst="ellipse">
            <a:avLst/>
          </a:prstGeom>
          <a:solidFill>
            <a:srgbClr val="00D4AA">
              <a:alpha val="2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38912" y="-256032"/>
            <a:ext cx="2340864" cy="23408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61688" y="320040"/>
            <a:ext cx="54864" cy="438912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2816" y="420624"/>
            <a:ext cx="292608" cy="29260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81728" y="438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1728" y="438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NOW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81728" y="7132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· Foundation + Claude AI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73168" y="1078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GA4 Health Score · Live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13167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Claude AI daily growth audit · Live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73168" y="15544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Weekly sprint plan + to-dos · Live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3168" y="17922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Freemium acquisition loop · Live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42816" y="1883664"/>
            <a:ext cx="292608" cy="292608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019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F4B4B">
              <a:alpha val="2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4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· Full Connectors + Alerts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" y="25420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Google Ads, Meta, GSC integration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7797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Real-time anomaly alerts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Multi-channel attribution model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2552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Slack + email digest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42816" y="3209544"/>
            <a:ext cx="292608" cy="292608"/>
          </a:xfrm>
          <a:prstGeom prst="ellipse">
            <a:avLst/>
          </a:prstGeom>
          <a:solidFill>
            <a:srgbClr val="4472E0"/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322783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4472E0">
              <a:alpha val="20000"/>
            </a:srgbClr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227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447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81728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· Advanced AI Intelligence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73168" y="38679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Predictive Health Score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3168" y="41056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NL query (ask your data)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43434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White-label launch Q3 2027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880360" y="4718304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00D4AA">
              <a:alpha val="1500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47183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Seed closes Q4 2026 · ~26-month runway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0D4AA">
              <a:alpha val="2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-274320"/>
            <a:ext cx="2926080" cy="292608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TEAM</a:t>
            </a:r>
            <a:endParaRPr lang="en-US" sz="4000" dirty="0"/>
          </a:p>
        </p:txBody>
      </p:sp>
      <p:pic>
        <p:nvPicPr>
          <p:cNvPr id="5" name="Image 0" descr="/sessions/wizardly-clever-dirac/photo_oz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2011680" cy="2148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OZLEM DEGIRMENCI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GULSER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CEO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28600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Ex-Innogate, KWorks</a:t>
            </a:r>
            <a:endParaRPr lang="en-US" sz="1000" dirty="0"/>
          </a:p>
        </p:txBody>
      </p:sp>
      <p:pic>
        <p:nvPicPr>
          <p:cNvPr id="9" name="Image 1" descr="/sessions/wizardly-clever-dirac/photo_dila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024128"/>
            <a:ext cx="2011680" cy="2148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46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DILARA HOLAT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GULDIKER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51460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Head of Growth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514600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Ex-Insider, Amazon, Watsons</a:t>
            </a:r>
            <a:endParaRPr lang="en-US" sz="1000" dirty="0"/>
          </a:p>
        </p:txBody>
      </p:sp>
      <p:pic>
        <p:nvPicPr>
          <p:cNvPr id="13" name="Image 2" descr="/sessions/wizardly-clever-dirac/photo_doguk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24128"/>
            <a:ext cx="2011680" cy="2148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06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DOGUKAN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RENDECI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80060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Revenue Partner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800600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&amp; Revenue Hacker</a:t>
            </a:r>
            <a:endParaRPr lang="en-US" sz="1000" dirty="0"/>
          </a:p>
        </p:txBody>
      </p:sp>
      <p:pic>
        <p:nvPicPr>
          <p:cNvPr id="17" name="Image 3" descr="/sessions/wizardly-clever-dirac/photo_hit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24128"/>
            <a:ext cx="2011680" cy="21488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HITESH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CHOPRA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85800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858000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Ex-Accenture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FF4B4B">
              <a:alpha val="20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182880"/>
            <a:ext cx="1920240" cy="19202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"/>
            <a:ext cx="3474720" cy="329184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 · 2026–2028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Breakeven Q2 2027.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$2.1M ARR by EOY 2027.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69164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719072"/>
            <a:ext cx="2944368" cy="713232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773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126480" y="1993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Closes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26480" y="2249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$750K · 26-month runway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89320" y="2496312"/>
            <a:ext cx="2944368" cy="713232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5511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26480" y="2770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$539K ARR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26480" y="3026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paying customers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989320" y="3273552"/>
            <a:ext cx="2944368" cy="713232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3328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26480" y="3547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Breakeven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126480" y="38039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positive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9320" y="4050792"/>
            <a:ext cx="2944368" cy="713232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6480" y="4105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EOY 2027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126480" y="4325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$2.1M ARR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126480" y="4581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 customers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0D4AA">
              <a:alpha val="3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48856" y="-466344"/>
            <a:ext cx="3218688" cy="321868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FF4B4B">
              <a:alpha val="25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3840480"/>
            <a:ext cx="1920240" cy="19202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474720"/>
            <a:ext cx="2743200" cy="2743200"/>
          </a:xfrm>
          <a:prstGeom prst="ellipse">
            <a:avLst/>
          </a:prstGeom>
          <a:solidFill>
            <a:srgbClr val="4472E0">
              <a:alpha val="22000"/>
            </a:srgbClr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4023360"/>
            <a:ext cx="1645920" cy="16459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NEED · SEED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8368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$750K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50" kern="0" dirty="0">
                <a:solidFill>
                  <a:srgbClr val="D1D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ROUND · CLOSING Q4 2026 · ~26 MONTHS RUNWAY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2084832" cy="12801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7523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29768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Engineering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2888" y="2606040"/>
            <a:ext cx="2084832" cy="12801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27523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47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642616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5736" y="2606040"/>
            <a:ext cx="2084832" cy="12801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55464" y="27523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4B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855464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58584" y="2606040"/>
            <a:ext cx="2084832" cy="1280160"/>
          </a:xfrm>
          <a:prstGeom prst="rect">
            <a:avLst/>
          </a:prstGeom>
          <a:solidFill>
            <a:srgbClr val="18181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68312" y="27523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C4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068312" y="34107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 and Reserve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40416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200 paying customers by Q1 2027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43159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$539K ARR by Q1 2027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45902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EBITDA breakeven Q2 2027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645920"/>
            <a:ext cx="5486400" cy="5486400"/>
          </a:xfrm>
          <a:prstGeom prst="ellipse">
            <a:avLst/>
          </a:prstGeom>
          <a:solidFill>
            <a:srgbClr val="00D4AA">
              <a:alpha val="38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6752" y="-658368"/>
            <a:ext cx="3511296" cy="35112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926080"/>
            <a:ext cx="2926080" cy="2926080"/>
          </a:xfrm>
          <a:prstGeom prst="ellipse">
            <a:avLst/>
          </a:prstGeom>
          <a:solidFill>
            <a:srgbClr val="FF4B4B">
              <a:alpha val="28000"/>
            </a:srgbClr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49056" y="3511296"/>
            <a:ext cx="1755648" cy="17556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731520" y="3657600"/>
            <a:ext cx="3200400" cy="3200400"/>
          </a:xfrm>
          <a:prstGeom prst="ellipse">
            <a:avLst/>
          </a:prstGeom>
          <a:solidFill>
            <a:srgbClr val="4472E0">
              <a:alpha val="22000"/>
            </a:srgbClr>
          </a:solidFill>
          <a:ln w="12700">
            <a:solidFill>
              <a:srgbClr val="447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91440" y="4297680"/>
            <a:ext cx="1920240" cy="19202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0" descr="/sessions/wizardly-clever-dirac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237744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grow together.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GrowthWise is raising a $750K seed round closing Q4 2026.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looking for partners who believe every growth team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deserves a Claude-powered co-founder alongside them.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347472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401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554480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ozlem@growthwise.tech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80390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554480" y="38039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growthwisebusiness.com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206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554480" y="4206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dev.duzkm9bx6p5z2.amplifyapp.com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For qualified investors only ·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GrowthWise Investor Deck 2026</dc:title>
  <dc:subject>PptxGenJS Presentation</dc:subject>
  <dc:creator>GrowthWise</dc:creator>
  <cp:lastModifiedBy>GrowthWise</cp:lastModifiedBy>
  <cp:revision>1</cp:revision>
  <dcterms:created xsi:type="dcterms:W3CDTF">2026-03-08T06:07:29Z</dcterms:created>
  <dcterms:modified xsi:type="dcterms:W3CDTF">2026-03-08T06:07:29Z</dcterms:modified>
</cp:coreProperties>
</file>